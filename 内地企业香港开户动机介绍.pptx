
<file path=[Content_Types].xml><?xml version="1.0" encoding="utf-8"?>
<Types xmlns="http://schemas.openxmlformats.org/package/2006/content-types"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+xml" PartName="/ppt/slides/slide1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</p:sldMasterIdLst>
  <p:notesMasterIdLst>
    <p:notesMasterId r:id="rId6"/>
  </p:notesMasterIdLst>
  <p:sldIdLst>
    <p:sldId id="256" r:id="rId9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10" Target="notesSlides/notesSlide1.xml" Type="http://schemas.openxmlformats.org/officeDocument/2006/relationships/notesSlide"/><Relationship Id="rId2" Target="viewProps.xml" Type="http://schemas.openxmlformats.org/officeDocument/2006/relationships/viewProps"/><Relationship Id="rId3" Target="presProps.xml" Type="http://schemas.openxmlformats.org/officeDocument/2006/relationships/presProps"/><Relationship Id="rId4" Target="slideMasters/slideMaster1.xml" Type="http://schemas.openxmlformats.org/officeDocument/2006/relationships/slideMaster"/><Relationship Id="rId6" Target="notesMasters/notesMaster1.xml" Type="http://schemas.openxmlformats.org/officeDocument/2006/relationships/notesMaster"/><Relationship Id="rId7" Target="theme/theme2.xml" Type="http://schemas.openxmlformats.org/officeDocument/2006/relationships/theme"/><Relationship Id="rId8" Target="slideMasters/slideMaster2.xml" Type="http://schemas.openxmlformats.org/officeDocument/2006/relationships/slideMaster"/><Relationship Id="rId9" Target="slides/slide1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大家好，今天我们来聊聊内地企业为什么热衷于在香港开设银行账户。这背后其实有几个非常核心的动机。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首先，最主要的原因是为了拓展国际业务版图。香港作为全球知名的国际金融中心，拥有得天独厚的地理位置和自由开放的商业环境，是内地企业走向世界的绝佳平台。在这里开户，能让企业更方便地开展进出口贸易、进行海外投资和并购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其次，在香港开户能显著提升企业的国际形象和信誉。拥有一个香港的银行账户，本身就是企业实力和国际化运营能力的一种证明，这对于建立和巩固与国际合作伙伴的信任关系非常有帮助。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第三，企业可以充分利用香港成熟的金融市场优势。香港的融资渠道非常丰富，无论是银行贷款、发行债券还是寻求上市，都比内地更加灵活和便捷，能为企业的发展提供强大的资金支持。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第四，香港无外汇管制的政策也是一大吸引力。这使得企业在处理国际贸易中的外汇收支时更加自由，能有效规避汇率风险，优化资金配置。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最后，从税务角度看，香港简单的税制和较低的税率，以及广泛的避免双重征税协定网络，为企业进行合理的税务筹划提供了空间，有助于降低整体运营成本。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总而言之，香港为内地企业提供了一个连接国际市场的桥梁，在香港开户是企业实现国际化战略的重要一步。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Relationship Id="rId2" Target="../slideLayouts/slideLayout12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默认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notesSlides/notesSlide1.xml" Type="http://schemas.openxmlformats.org/officeDocument/2006/relationships/notesSlide"/><Relationship Id="rId13" Target="../media/image11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1F3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1F3F">
              <a:alpha val="9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2571750" y="635000"/>
            <a:ext cx="70485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内地企业在香港开户的核心动机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34376" flipH="false" flipV="false">
            <a:off x="5461032" y="1390650"/>
            <a:ext cx="1270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38100" cmpd="sng" cap="flat">
            <a:solidFill>
              <a:srgbClr val="FFD700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5" id="5"/>
          <p:cNvSpPr/>
          <p:nvPr/>
        </p:nvSpPr>
        <p:spPr>
          <a:xfrm rot="0" flipH="false" flipV="false">
            <a:off x="635000" y="1651000"/>
            <a:ext cx="10922000" cy="762000"/>
          </a:xfrm>
          <a:prstGeom prst="roundRect">
            <a:avLst>
              <a:gd name="adj" fmla="val 16666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FFD700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889000" y="1828800"/>
            <a:ext cx="406400" cy="4064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524000" y="1727200"/>
            <a:ext cx="9398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拓展国际业务版图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524000" y="2057400"/>
            <a:ext cx="9398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利用香港自由港优势，作为“走出去”跳板，便于开展进出口贸易、海外投资与并购。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635000" y="2540000"/>
            <a:ext cx="10922000" cy="762000"/>
          </a:xfrm>
          <a:prstGeom prst="roundRect">
            <a:avLst>
              <a:gd name="adj" fmla="val 16666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FFD700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889000" y="2717800"/>
            <a:ext cx="406400" cy="4064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1524000" y="2616200"/>
            <a:ext cx="9398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提升企业国际形象与信誉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1524000" y="2946400"/>
            <a:ext cx="9398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彰显国际化运营能力，增强合作伙伴信任，提升国际款项接收效率与便利性。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635000" y="3429000"/>
            <a:ext cx="10922000" cy="762000"/>
          </a:xfrm>
          <a:prstGeom prst="roundRect">
            <a:avLst>
              <a:gd name="adj" fmla="val 16666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FFD700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889000" y="3606800"/>
            <a:ext cx="406400" cy="4064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1524000" y="3505200"/>
            <a:ext cx="9398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利用香港金融市场优势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1524000" y="3835400"/>
            <a:ext cx="9398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依托成熟体系获取多样融资（贷款/发债/上市），灵活进行跨境资金调拨与管理。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635000" y="4318000"/>
            <a:ext cx="10922000" cy="762000"/>
          </a:xfrm>
          <a:prstGeom prst="roundRect">
            <a:avLst>
              <a:gd name="adj" fmla="val 16666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FFD700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889000" y="4495800"/>
            <a:ext cx="406400" cy="406400"/>
          </a:xfrm>
          <a:prstGeom prst="rect">
            <a:avLst/>
          </a:prstGeom>
        </p:spPr>
      </p:pic>
      <p:sp>
        <p:nvSpPr>
          <p:cNvPr name="AutoShape 19" id="19"/>
          <p:cNvSpPr/>
          <p:nvPr/>
        </p:nvSpPr>
        <p:spPr>
          <a:xfrm rot="0" flipH="false" flipV="false">
            <a:off x="1524000" y="4394200"/>
            <a:ext cx="9398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享受便利的外汇结算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1524000" y="4724400"/>
            <a:ext cx="9398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无外汇管制，资金进出自由，有效规避汇率风险，优化全球资金配置效率。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635000" y="5207000"/>
            <a:ext cx="10922000" cy="762000"/>
          </a:xfrm>
          <a:prstGeom prst="roundRect">
            <a:avLst>
              <a:gd name="adj" fmla="val 16666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FFD700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2" id="22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 flipH="false" flipV="false">
            <a:off x="889000" y="5384800"/>
            <a:ext cx="406400" cy="406400"/>
          </a:xfrm>
          <a:prstGeom prst="rect">
            <a:avLst/>
          </a:prstGeom>
        </p:spPr>
      </p:pic>
      <p:sp>
        <p:nvSpPr>
          <p:cNvPr name="AutoShape 23" id="23"/>
          <p:cNvSpPr/>
          <p:nvPr/>
        </p:nvSpPr>
        <p:spPr>
          <a:xfrm rot="0" flipH="false" flipV="false">
            <a:off x="1524000" y="5283200"/>
            <a:ext cx="9398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实现税务筹划与优化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1524000" y="5613400"/>
            <a:ext cx="9398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利用低税率（利得税16.5%）及避免双重征税协定，合理降低企业整体税负成本。</a:t>
            </a:r>
            <a:endParaRPr lang="en-US" sz="1100"/>
          </a:p>
        </p:txBody>
      </p:sp>
      <p:pic>
        <p:nvPicPr>
          <p:cNvPr name="Picture 25" id="25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